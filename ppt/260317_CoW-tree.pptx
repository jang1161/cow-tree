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8" r:id="rId2"/>
    <p:sldId id="261" r:id="rId3"/>
    <p:sldId id="262" r:id="rId4"/>
    <p:sldId id="266" r:id="rId5"/>
    <p:sldId id="263" r:id="rId6"/>
    <p:sldId id="265" r:id="rId7"/>
    <p:sldId id="260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49"/>
    <p:restoredTop sz="94710"/>
  </p:normalViewPr>
  <p:slideViewPr>
    <p:cSldViewPr snapToGrid="0">
      <p:cViewPr varScale="1">
        <p:scale>
          <a:sx n="104" d="100"/>
          <a:sy n="104" d="100"/>
        </p:scale>
        <p:origin x="90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27EF1D-3111-2B4D-8009-3A5D4609E3C8}" type="datetimeFigureOut">
              <a:rPr kumimoji="1" lang="ko-KR" altLang="en-US" smtClean="0"/>
              <a:t>2026-03-17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FE4CAF-35CF-474F-8A07-08770DF2FBD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57615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606155-F1F3-0828-8199-9BA17043F32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en-US" altLang="ko-KR" dirty="0"/>
              <a:t>Title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501777A-8371-D233-1BFF-8394F72B735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ko-KR" dirty="0"/>
              <a:t>Subtitle</a:t>
            </a:r>
            <a:endParaRPr kumimoji="1" lang="ko-KR" altLang="en-US" dirty="0"/>
          </a:p>
        </p:txBody>
      </p:sp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10D5D9DF-EB4F-EBF8-5FFF-2E4CA2F76930}"/>
              </a:ext>
            </a:extLst>
          </p:cNvPr>
          <p:cNvCxnSpPr>
            <a:cxnSpLocks/>
          </p:cNvCxnSpPr>
          <p:nvPr userDrawn="1"/>
        </p:nvCxnSpPr>
        <p:spPr>
          <a:xfrm>
            <a:off x="0" y="720190"/>
            <a:ext cx="12192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[R] 11">
            <a:extLst>
              <a:ext uri="{FF2B5EF4-FFF2-40B4-BE49-F238E27FC236}">
                <a16:creationId xmlns:a16="http://schemas.microsoft.com/office/drawing/2014/main" id="{7E1715A1-2435-6F4A-7C4B-EA550B4B86D7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137809"/>
            <a:ext cx="12192000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그림 13">
            <a:extLst>
              <a:ext uri="{FF2B5EF4-FFF2-40B4-BE49-F238E27FC236}">
                <a16:creationId xmlns:a16="http://schemas.microsoft.com/office/drawing/2014/main" id="{8B526A0F-A714-F015-A30F-7E042D1A1B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930" y="6254369"/>
            <a:ext cx="613226" cy="536940"/>
          </a:xfrm>
          <a:prstGeom prst="rect">
            <a:avLst/>
          </a:prstGeom>
        </p:spPr>
      </p:pic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5EA485AE-F0AB-5BC7-1FC5-D82D88EAAB8D}"/>
              </a:ext>
            </a:extLst>
          </p:cNvPr>
          <p:cNvCxnSpPr>
            <a:cxnSpLocks/>
          </p:cNvCxnSpPr>
          <p:nvPr userDrawn="1"/>
        </p:nvCxnSpPr>
        <p:spPr>
          <a:xfrm>
            <a:off x="1524000" y="3509963"/>
            <a:ext cx="9144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F3CE886B-C875-0B04-3540-6F5EF5C7EB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9488" y="6234061"/>
            <a:ext cx="572766" cy="572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BCBB634-6039-2052-0DA4-32D0471004E9}"/>
              </a:ext>
            </a:extLst>
          </p:cNvPr>
          <p:cNvSpPr txBox="1"/>
          <p:nvPr userDrawn="1"/>
        </p:nvSpPr>
        <p:spPr>
          <a:xfrm>
            <a:off x="656327" y="6403337"/>
            <a:ext cx="27351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SPLAB</a:t>
            </a:r>
          </a:p>
          <a:p>
            <a:pPr marL="0" marR="0" lvl="0" indent="0" algn="l" defTabSz="914400" rtl="0" eaLnBrk="1" fontAlgn="auto" latinLnBrk="1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Software Platform Laboratory</a:t>
            </a:r>
            <a:endParaRPr kumimoji="1" lang="ko-KR" altLang="en-US" sz="105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7" name="텍스트 개체 틀 26">
            <a:extLst>
              <a:ext uri="{FF2B5EF4-FFF2-40B4-BE49-F238E27FC236}">
                <a16:creationId xmlns:a16="http://schemas.microsoft.com/office/drawing/2014/main" id="{7D98A474-8889-873A-71D8-F21E406DB2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5930" y="292102"/>
            <a:ext cx="5647918" cy="428088"/>
          </a:xfrm>
        </p:spPr>
        <p:txBody>
          <a:bodyPr>
            <a:noAutofit/>
          </a:bodyPr>
          <a:lstStyle>
            <a:lvl1pPr>
              <a:buNone/>
              <a:defRPr sz="2000"/>
            </a:lvl1pPr>
          </a:lstStyle>
          <a:p>
            <a:pPr lvl="0"/>
            <a:r>
              <a:rPr kumimoji="1" lang="en-US" altLang="ko-KR" dirty="0"/>
              <a:t>date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030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ABB141-5AF3-6001-3E4B-3AB464F2A6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7178" y="163994"/>
            <a:ext cx="5238369" cy="396180"/>
          </a:xfrm>
        </p:spPr>
        <p:txBody>
          <a:bodyPr/>
          <a:lstStyle>
            <a:lvl1pPr algn="l">
              <a:defRPr sz="3200" b="1"/>
            </a:lvl1pPr>
          </a:lstStyle>
          <a:p>
            <a:r>
              <a:rPr kumimoji="1" lang="en-US" altLang="ko-KR" dirty="0"/>
              <a:t>Title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76AF26-D882-D8B8-568D-FF524830D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257" y="956355"/>
            <a:ext cx="10719486" cy="464831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B8F8767D-7808-4B9C-3EE7-8558571CB8B7}"/>
              </a:ext>
            </a:extLst>
          </p:cNvPr>
          <p:cNvGrpSpPr/>
          <p:nvPr userDrawn="1"/>
        </p:nvGrpSpPr>
        <p:grpSpPr>
          <a:xfrm>
            <a:off x="1" y="6555352"/>
            <a:ext cx="12192000" cy="302648"/>
            <a:chOff x="-36416" y="6512773"/>
            <a:chExt cx="12264829" cy="302648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E9D2162-A304-F706-F61B-D25A5F1586C5}"/>
                </a:ext>
              </a:extLst>
            </p:cNvPr>
            <p:cNvSpPr/>
            <p:nvPr userDrawn="1"/>
          </p:nvSpPr>
          <p:spPr>
            <a:xfrm>
              <a:off x="-36416" y="6512773"/>
              <a:ext cx="12264829" cy="30264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B93A31D-1979-66BF-9106-60398885BFF7}"/>
                </a:ext>
              </a:extLst>
            </p:cNvPr>
            <p:cNvSpPr txBox="1"/>
            <p:nvPr userDrawn="1"/>
          </p:nvSpPr>
          <p:spPr>
            <a:xfrm>
              <a:off x="4943281" y="6525598"/>
              <a:ext cx="230543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1200" b="1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Software Platform Laboratory</a:t>
              </a:r>
              <a:endParaRPr kumimoji="1" lang="ko-KR" altLang="en-US" sz="12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30CBA68-99CB-1E11-079C-8B6AB659B261}"/>
                </a:ext>
              </a:extLst>
            </p:cNvPr>
            <p:cNvSpPr txBox="1"/>
            <p:nvPr userDrawn="1"/>
          </p:nvSpPr>
          <p:spPr>
            <a:xfrm>
              <a:off x="10180807" y="6525598"/>
              <a:ext cx="18742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1200" b="1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HANYANG UNIVERSITY</a:t>
              </a:r>
              <a:endParaRPr kumimoji="1" lang="ko-KR" altLang="en-US" sz="12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71DC4EE2-F77C-9B6C-F1BB-D8E8F30FF9A1}"/>
              </a:ext>
            </a:extLst>
          </p:cNvPr>
          <p:cNvCxnSpPr>
            <a:cxnSpLocks/>
          </p:cNvCxnSpPr>
          <p:nvPr userDrawn="1"/>
        </p:nvCxnSpPr>
        <p:spPr>
          <a:xfrm>
            <a:off x="0" y="560174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14CA00BB-270E-3ED8-E574-35244703B4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66452" y="163517"/>
            <a:ext cx="5238369" cy="409481"/>
          </a:xfrm>
        </p:spPr>
        <p:txBody>
          <a:bodyPr/>
          <a:lstStyle>
            <a:lvl1pPr algn="r">
              <a:buNone/>
              <a:defRPr sz="2400"/>
            </a:lvl1pPr>
          </a:lstStyle>
          <a:p>
            <a:pPr lvl="0"/>
            <a:r>
              <a:rPr kumimoji="1" lang="en-US" altLang="ko-KR" dirty="0"/>
              <a:t>Subtitle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20714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[R] 11">
            <a:extLst>
              <a:ext uri="{FF2B5EF4-FFF2-40B4-BE49-F238E27FC236}">
                <a16:creationId xmlns:a16="http://schemas.microsoft.com/office/drawing/2014/main" id="{E8DDFEFE-3FFB-C921-25CA-B68B8E83E1E5}"/>
              </a:ext>
            </a:extLst>
          </p:cNvPr>
          <p:cNvCxnSpPr>
            <a:cxnSpLocks/>
          </p:cNvCxnSpPr>
          <p:nvPr userDrawn="1"/>
        </p:nvCxnSpPr>
        <p:spPr>
          <a:xfrm>
            <a:off x="-36415" y="6137809"/>
            <a:ext cx="1226482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B75EC769-B472-71BE-2DD8-39D6E0CDB5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930" y="6254369"/>
            <a:ext cx="613226" cy="536940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B75CFF8B-1300-6D3F-C921-66CDB79092B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9488" y="6234061"/>
            <a:ext cx="572766" cy="572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DD2DFFE-0674-EB66-377C-84A3B70611A0}"/>
              </a:ext>
            </a:extLst>
          </p:cNvPr>
          <p:cNvSpPr txBox="1"/>
          <p:nvPr userDrawn="1"/>
        </p:nvSpPr>
        <p:spPr>
          <a:xfrm>
            <a:off x="656327" y="6403337"/>
            <a:ext cx="27351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SPLAB</a:t>
            </a:r>
          </a:p>
          <a:p>
            <a:pPr marL="0" marR="0" lvl="0" indent="0" algn="l" defTabSz="914400" rtl="0" eaLnBrk="1" fontAlgn="auto" latinLnBrk="1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Software Platform Laboratory</a:t>
            </a:r>
            <a:endParaRPr kumimoji="1" lang="ko-KR" altLang="en-US" sz="105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78C6C24-7A40-3189-AF26-6F99B3343870}"/>
              </a:ext>
            </a:extLst>
          </p:cNvPr>
          <p:cNvSpPr/>
          <p:nvPr userDrawn="1"/>
        </p:nvSpPr>
        <p:spPr>
          <a:xfrm>
            <a:off x="-1" y="-4675"/>
            <a:ext cx="12192000" cy="2030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6" name="직선 연결선[R] 14">
            <a:extLst>
              <a:ext uri="{FF2B5EF4-FFF2-40B4-BE49-F238E27FC236}">
                <a16:creationId xmlns:a16="http://schemas.microsoft.com/office/drawing/2014/main" id="{1FDA4DBD-A865-E421-2F27-6BA553D5AD1F}"/>
              </a:ext>
            </a:extLst>
          </p:cNvPr>
          <p:cNvCxnSpPr>
            <a:cxnSpLocks/>
          </p:cNvCxnSpPr>
          <p:nvPr userDrawn="1"/>
        </p:nvCxnSpPr>
        <p:spPr>
          <a:xfrm flipV="1">
            <a:off x="3147201" y="3509963"/>
            <a:ext cx="5897592" cy="4603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7775820-13D9-1102-A997-E8FF52414201}"/>
              </a:ext>
            </a:extLst>
          </p:cNvPr>
          <p:cNvSpPr txBox="1"/>
          <p:nvPr userDrawn="1"/>
        </p:nvSpPr>
        <p:spPr>
          <a:xfrm>
            <a:off x="4922440" y="2448005"/>
            <a:ext cx="234711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E.O.D</a:t>
            </a:r>
            <a:endParaRPr lang="ko-KR" altLang="en-US" sz="66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38C5EE-11E1-B72C-7F56-06441FD44111}"/>
              </a:ext>
            </a:extLst>
          </p:cNvPr>
          <p:cNvSpPr txBox="1"/>
          <p:nvPr userDrawn="1"/>
        </p:nvSpPr>
        <p:spPr>
          <a:xfrm>
            <a:off x="4962514" y="3556001"/>
            <a:ext cx="22669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b="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Thank you!</a:t>
            </a:r>
            <a:endParaRPr lang="ko-KR" altLang="en-US" sz="3200" b="0" dirty="0">
              <a:solidFill>
                <a:schemeClr val="bg2">
                  <a:lumMod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5946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40D792B-5A12-E2EF-B55B-0C71A93CF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88AD58-2A11-104C-9E5F-53EB95DE1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2AF8B7-EA7B-2E54-DCF9-D2819F0383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065FBB-B989-4C4C-9D7B-DC4DF2CDB2A0}" type="datetimeFigureOut">
              <a:rPr kumimoji="1" lang="ko-KR" altLang="en-US" smtClean="0"/>
              <a:t>2026-03-17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6F69C2-5860-E335-230F-C36ECE284A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CFAE51-9C68-FECD-2696-8D6EA16337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956C49-AD84-A940-AFB8-2A865CFC551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78013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9F779D-A662-7A65-A07E-8AE80CA19B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ko-KR" dirty="0" err="1"/>
              <a:t>CoW</a:t>
            </a:r>
            <a:r>
              <a:rPr kumimoji="1" lang="en-US" altLang="ko-KR" dirty="0"/>
              <a:t>-Tree Progress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815BDCF-FF3B-B165-411E-CF52AC4617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9EA2D9-B2CF-1799-0A44-DF39171CAB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ko-KR" dirty="0"/>
              <a:t>2026-03-17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8213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8EA9D8-0ABB-5C35-ABB2-D19979D0A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Purpose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38A12A-EB6C-C35D-5F57-94DC8FF1B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“</a:t>
            </a:r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ZTree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Towards an efficient B+-tree on zoned namespace SSDs”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163A528-C757-4428-13AE-319AD6E8C8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32F6FF2-6388-8157-1C93-83A32FF4A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580" y="2425461"/>
            <a:ext cx="5227547" cy="257444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C0171C6-EDDC-5869-FA89-C2F9B7022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450" y="1640573"/>
            <a:ext cx="4367599" cy="426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381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BD02CD-29F3-2293-C1C7-22A8852BA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/>
              <a:t>Attempts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95E7A6-55A1-DC5D-E15F-021686C32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257" y="956355"/>
            <a:ext cx="10719486" cy="3115328"/>
          </a:xfrm>
        </p:spPr>
        <p:txBody>
          <a:bodyPr/>
          <a:lstStyle/>
          <a:p>
            <a:r>
              <a:rPr lang="en" altLang="ko-KR" dirty="0"/>
              <a:t>Multi-writer model have shown limitation</a:t>
            </a:r>
          </a:p>
          <a:p>
            <a:endParaRPr lang="en" altLang="ko-KR" dirty="0"/>
          </a:p>
          <a:p>
            <a:r>
              <a:rPr lang="en" altLang="ko-KR" dirty="0"/>
              <a:t>CAS-based optimistic root publish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ko-KR" dirty="0"/>
              <a:t>Read a snapshot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" altLang="ko-KR" dirty="0"/>
              <a:t>Construct a candidate root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" altLang="ko-KR" dirty="0"/>
              <a:t>Validate the root update using CAS at publish time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88D1FDF-3EFA-CD6F-C57A-798F66F1A3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endParaRPr kumimoji="1" lang="ko-KR" altLang="en-US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39E8216-43A0-869C-EA75-A6C7D33E54E5}"/>
              </a:ext>
            </a:extLst>
          </p:cNvPr>
          <p:cNvGrpSpPr/>
          <p:nvPr/>
        </p:nvGrpSpPr>
        <p:grpSpPr>
          <a:xfrm>
            <a:off x="1941011" y="4071683"/>
            <a:ext cx="8350198" cy="2289146"/>
            <a:chOff x="1482779" y="4071683"/>
            <a:chExt cx="8350198" cy="228914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E462EA9-F66B-9FBD-2D20-AA8D48E0E7BF}"/>
                </a:ext>
              </a:extLst>
            </p:cNvPr>
            <p:cNvSpPr txBox="1"/>
            <p:nvPr/>
          </p:nvSpPr>
          <p:spPr>
            <a:xfrm>
              <a:off x="4774163" y="5991497"/>
              <a:ext cx="26436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Validation YES – publish</a:t>
              </a:r>
              <a:endPara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503812A-8FAD-E14B-8A11-4DC06948C46D}"/>
                </a:ext>
              </a:extLst>
            </p:cNvPr>
            <p:cNvSpPr txBox="1"/>
            <p:nvPr/>
          </p:nvSpPr>
          <p:spPr>
            <a:xfrm>
              <a:off x="7533950" y="5991497"/>
              <a:ext cx="22990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Validation NO - retry</a:t>
              </a:r>
              <a:endParaRPr kumimoji="1"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539A96C4-F15E-3100-A0B8-0674BB26857B}"/>
                </a:ext>
              </a:extLst>
            </p:cNvPr>
            <p:cNvGrpSpPr/>
            <p:nvPr/>
          </p:nvGrpSpPr>
          <p:grpSpPr>
            <a:xfrm>
              <a:off x="1482779" y="4071683"/>
              <a:ext cx="8309977" cy="1919814"/>
              <a:chOff x="1482779" y="4071683"/>
              <a:chExt cx="8309977" cy="1919814"/>
            </a:xfrm>
          </p:grpSpPr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C55997EB-C071-5D81-3E79-D69A9AA5AB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41466" t="14225" r="17928" b="14425"/>
              <a:stretch>
                <a:fillRect/>
              </a:stretch>
            </p:blipFill>
            <p:spPr>
              <a:xfrm>
                <a:off x="1482779" y="4071683"/>
                <a:ext cx="2218584" cy="1919814"/>
              </a:xfrm>
              <a:prstGeom prst="rect">
                <a:avLst/>
              </a:prstGeom>
            </p:spPr>
          </p:pic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BF55BFE4-1693-DFCE-01B5-07573EFE05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41466" t="14225" r="17928" b="14425"/>
              <a:stretch>
                <a:fillRect/>
              </a:stretch>
            </p:blipFill>
            <p:spPr>
              <a:xfrm>
                <a:off x="4986707" y="4071683"/>
                <a:ext cx="2218584" cy="1919814"/>
              </a:xfrm>
              <a:prstGeom prst="rect">
                <a:avLst/>
              </a:prstGeom>
            </p:spPr>
          </p:pic>
          <p:sp>
            <p:nvSpPr>
              <p:cNvPr id="9" name="곱하기 8">
                <a:extLst>
                  <a:ext uri="{FF2B5EF4-FFF2-40B4-BE49-F238E27FC236}">
                    <a16:creationId xmlns:a16="http://schemas.microsoft.com/office/drawing/2014/main" id="{27DB2960-00D5-CD20-0391-F3CD5D5829C4}"/>
                  </a:ext>
                </a:extLst>
              </p:cNvPr>
              <p:cNvSpPr/>
              <p:nvPr/>
            </p:nvSpPr>
            <p:spPr>
              <a:xfrm>
                <a:off x="5027739" y="5578202"/>
                <a:ext cx="269960" cy="299995"/>
              </a:xfrm>
              <a:prstGeom prst="mathMultiply">
                <a:avLst>
                  <a:gd name="adj1" fmla="val 12751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  <p:sp>
            <p:nvSpPr>
              <p:cNvPr id="11" name="곱하기 10">
                <a:extLst>
                  <a:ext uri="{FF2B5EF4-FFF2-40B4-BE49-F238E27FC236}">
                    <a16:creationId xmlns:a16="http://schemas.microsoft.com/office/drawing/2014/main" id="{24ED7238-9ECA-4B21-E767-5C4DCBB31B88}"/>
                  </a:ext>
                </a:extLst>
              </p:cNvPr>
              <p:cNvSpPr/>
              <p:nvPr/>
            </p:nvSpPr>
            <p:spPr>
              <a:xfrm>
                <a:off x="5420876" y="5578201"/>
                <a:ext cx="269960" cy="299995"/>
              </a:xfrm>
              <a:prstGeom prst="mathMultiply">
                <a:avLst>
                  <a:gd name="adj1" fmla="val 12751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  <p:sp>
            <p:nvSpPr>
              <p:cNvPr id="12" name="곱하기 11">
                <a:extLst>
                  <a:ext uri="{FF2B5EF4-FFF2-40B4-BE49-F238E27FC236}">
                    <a16:creationId xmlns:a16="http://schemas.microsoft.com/office/drawing/2014/main" id="{FA08CFC8-CCEE-1789-57CD-01002E632320}"/>
                  </a:ext>
                </a:extLst>
              </p:cNvPr>
              <p:cNvSpPr/>
              <p:nvPr/>
            </p:nvSpPr>
            <p:spPr>
              <a:xfrm>
                <a:off x="6007611" y="5578200"/>
                <a:ext cx="269960" cy="299995"/>
              </a:xfrm>
              <a:prstGeom prst="mathMultiply">
                <a:avLst>
                  <a:gd name="adj1" fmla="val 12751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  <p:sp>
            <p:nvSpPr>
              <p:cNvPr id="13" name="곱하기 12">
                <a:extLst>
                  <a:ext uri="{FF2B5EF4-FFF2-40B4-BE49-F238E27FC236}">
                    <a16:creationId xmlns:a16="http://schemas.microsoft.com/office/drawing/2014/main" id="{91182A73-320D-09B8-AB98-6B007152E1E7}"/>
                  </a:ext>
                </a:extLst>
              </p:cNvPr>
              <p:cNvSpPr/>
              <p:nvPr/>
            </p:nvSpPr>
            <p:spPr>
              <a:xfrm>
                <a:off x="5625547" y="4106351"/>
                <a:ext cx="269960" cy="299995"/>
              </a:xfrm>
              <a:prstGeom prst="mathMultiply">
                <a:avLst>
                  <a:gd name="adj1" fmla="val 12751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  <p:sp>
            <p:nvSpPr>
              <p:cNvPr id="14" name="곱하기 13">
                <a:extLst>
                  <a:ext uri="{FF2B5EF4-FFF2-40B4-BE49-F238E27FC236}">
                    <a16:creationId xmlns:a16="http://schemas.microsoft.com/office/drawing/2014/main" id="{A9CF9F87-434C-C571-950C-17A41B629872}"/>
                  </a:ext>
                </a:extLst>
              </p:cNvPr>
              <p:cNvSpPr/>
              <p:nvPr/>
            </p:nvSpPr>
            <p:spPr>
              <a:xfrm>
                <a:off x="5984467" y="4540563"/>
                <a:ext cx="269960" cy="299995"/>
              </a:xfrm>
              <a:prstGeom prst="mathMultiply">
                <a:avLst>
                  <a:gd name="adj1" fmla="val 12751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  <p:sp>
            <p:nvSpPr>
              <p:cNvPr id="15" name="곱하기 14">
                <a:extLst>
                  <a:ext uri="{FF2B5EF4-FFF2-40B4-BE49-F238E27FC236}">
                    <a16:creationId xmlns:a16="http://schemas.microsoft.com/office/drawing/2014/main" id="{8CEC531D-6283-AEE5-7DCE-FADB37D1C0E1}"/>
                  </a:ext>
                </a:extLst>
              </p:cNvPr>
              <p:cNvSpPr/>
              <p:nvPr/>
            </p:nvSpPr>
            <p:spPr>
              <a:xfrm>
                <a:off x="6211771" y="4985995"/>
                <a:ext cx="269960" cy="299995"/>
              </a:xfrm>
              <a:prstGeom prst="mathMultiply">
                <a:avLst>
                  <a:gd name="adj1" fmla="val 12751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  <p:pic>
            <p:nvPicPr>
              <p:cNvPr id="16" name="그림 15">
                <a:extLst>
                  <a:ext uri="{FF2B5EF4-FFF2-40B4-BE49-F238E27FC236}">
                    <a16:creationId xmlns:a16="http://schemas.microsoft.com/office/drawing/2014/main" id="{3E99CA47-A8BD-135F-3C8C-50C47659AD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41466" t="14225" r="17928" b="14425"/>
              <a:stretch>
                <a:fillRect/>
              </a:stretch>
            </p:blipFill>
            <p:spPr>
              <a:xfrm>
                <a:off x="7574172" y="4071683"/>
                <a:ext cx="2218584" cy="1919814"/>
              </a:xfrm>
              <a:prstGeom prst="rect">
                <a:avLst/>
              </a:prstGeom>
            </p:spPr>
          </p:pic>
          <p:sp>
            <p:nvSpPr>
              <p:cNvPr id="17" name="곱하기 16">
                <a:extLst>
                  <a:ext uri="{FF2B5EF4-FFF2-40B4-BE49-F238E27FC236}">
                    <a16:creationId xmlns:a16="http://schemas.microsoft.com/office/drawing/2014/main" id="{15574B83-2E48-50A8-AFA9-4DA6F5B6C9D1}"/>
                  </a:ext>
                </a:extLst>
              </p:cNvPr>
              <p:cNvSpPr/>
              <p:nvPr/>
            </p:nvSpPr>
            <p:spPr>
              <a:xfrm>
                <a:off x="8849919" y="4111487"/>
                <a:ext cx="269960" cy="299995"/>
              </a:xfrm>
              <a:prstGeom prst="mathMultiply">
                <a:avLst>
                  <a:gd name="adj1" fmla="val 12751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  <p:sp>
            <p:nvSpPr>
              <p:cNvPr id="18" name="곱하기 17">
                <a:extLst>
                  <a:ext uri="{FF2B5EF4-FFF2-40B4-BE49-F238E27FC236}">
                    <a16:creationId xmlns:a16="http://schemas.microsoft.com/office/drawing/2014/main" id="{858F9492-489E-68A8-0252-C9F017F07DFA}"/>
                  </a:ext>
                </a:extLst>
              </p:cNvPr>
              <p:cNvSpPr/>
              <p:nvPr/>
            </p:nvSpPr>
            <p:spPr>
              <a:xfrm>
                <a:off x="9170225" y="4550775"/>
                <a:ext cx="269960" cy="299995"/>
              </a:xfrm>
              <a:prstGeom prst="mathMultiply">
                <a:avLst>
                  <a:gd name="adj1" fmla="val 12751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  <p:sp>
            <p:nvSpPr>
              <p:cNvPr id="19" name="곱하기 18">
                <a:extLst>
                  <a:ext uri="{FF2B5EF4-FFF2-40B4-BE49-F238E27FC236}">
                    <a16:creationId xmlns:a16="http://schemas.microsoft.com/office/drawing/2014/main" id="{1309021D-47A7-DC44-1EEB-FE3284AA1D39}"/>
                  </a:ext>
                </a:extLst>
              </p:cNvPr>
              <p:cNvSpPr/>
              <p:nvPr/>
            </p:nvSpPr>
            <p:spPr>
              <a:xfrm>
                <a:off x="9407782" y="4987982"/>
                <a:ext cx="269960" cy="299995"/>
              </a:xfrm>
              <a:prstGeom prst="mathMultiply">
                <a:avLst>
                  <a:gd name="adj1" fmla="val 12751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  <p:sp>
            <p:nvSpPr>
              <p:cNvPr id="20" name="곱하기 19">
                <a:extLst>
                  <a:ext uri="{FF2B5EF4-FFF2-40B4-BE49-F238E27FC236}">
                    <a16:creationId xmlns:a16="http://schemas.microsoft.com/office/drawing/2014/main" id="{A82993BE-D395-41CA-CAC1-27670682F9F7}"/>
                  </a:ext>
                </a:extLst>
              </p:cNvPr>
              <p:cNvSpPr/>
              <p:nvPr/>
            </p:nvSpPr>
            <p:spPr>
              <a:xfrm>
                <a:off x="8799895" y="5586175"/>
                <a:ext cx="269960" cy="299995"/>
              </a:xfrm>
              <a:prstGeom prst="mathMultiply">
                <a:avLst>
                  <a:gd name="adj1" fmla="val 12751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  <p:sp>
            <p:nvSpPr>
              <p:cNvPr id="21" name="곱하기 20">
                <a:extLst>
                  <a:ext uri="{FF2B5EF4-FFF2-40B4-BE49-F238E27FC236}">
                    <a16:creationId xmlns:a16="http://schemas.microsoft.com/office/drawing/2014/main" id="{11912D7D-CBB5-ED4D-51C2-87B852DBD973}"/>
                  </a:ext>
                </a:extLst>
              </p:cNvPr>
              <p:cNvSpPr/>
              <p:nvPr/>
            </p:nvSpPr>
            <p:spPr>
              <a:xfrm>
                <a:off x="9024971" y="5586174"/>
                <a:ext cx="269960" cy="299995"/>
              </a:xfrm>
              <a:prstGeom prst="mathMultiply">
                <a:avLst>
                  <a:gd name="adj1" fmla="val 12751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  <p:sp>
            <p:nvSpPr>
              <p:cNvPr id="22" name="곱하기 21">
                <a:extLst>
                  <a:ext uri="{FF2B5EF4-FFF2-40B4-BE49-F238E27FC236}">
                    <a16:creationId xmlns:a16="http://schemas.microsoft.com/office/drawing/2014/main" id="{7E469A90-A19D-6B1A-ED1F-24C90E31AE9B}"/>
                  </a:ext>
                </a:extLst>
              </p:cNvPr>
              <p:cNvSpPr/>
              <p:nvPr/>
            </p:nvSpPr>
            <p:spPr>
              <a:xfrm>
                <a:off x="9247821" y="5585251"/>
                <a:ext cx="269960" cy="299995"/>
              </a:xfrm>
              <a:prstGeom prst="mathMultiply">
                <a:avLst>
                  <a:gd name="adj1" fmla="val 12751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  <p:cxnSp>
            <p:nvCxnSpPr>
              <p:cNvPr id="24" name="직선 화살표 연결선 23">
                <a:extLst>
                  <a:ext uri="{FF2B5EF4-FFF2-40B4-BE49-F238E27FC236}">
                    <a16:creationId xmlns:a16="http://schemas.microsoft.com/office/drawing/2014/main" id="{26DD75C6-926C-338F-DECC-AE39806547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4446" y="5031590"/>
                <a:ext cx="789955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685233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E5D0C8-21F1-A774-7ABD-3CD8F4E33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Attempts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556B5C09-7B16-6BB9-7B32-0CF755BA91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0000"/>
          <a:stretch>
            <a:fillRect/>
          </a:stretch>
        </p:blipFill>
        <p:spPr>
          <a:xfrm>
            <a:off x="3320497" y="1764266"/>
            <a:ext cx="4610100" cy="3841749"/>
          </a:xfrm>
          <a:prstGeom prst="rect">
            <a:avLst/>
          </a:prstGeom>
        </p:spPr>
      </p:pic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1FED314-87CC-B60F-CD80-C7DA1D41A0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963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AE3ED0-C0F3-9DE9-D8A4-BA98197CA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Current Approach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5577CB-D304-CBB6-1694-81F5595A16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CFCCFAB-A543-1F44-2B34-0E0508DE4898}"/>
              </a:ext>
            </a:extLst>
          </p:cNvPr>
          <p:cNvSpPr txBox="1">
            <a:spLocks/>
          </p:cNvSpPr>
          <p:nvPr/>
        </p:nvSpPr>
        <p:spPr>
          <a:xfrm>
            <a:off x="736257" y="956355"/>
            <a:ext cx="10719486" cy="3115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Single-writer + batching</a:t>
            </a:r>
          </a:p>
          <a:p>
            <a:pPr lvl="1"/>
            <a:r>
              <a:rPr lang="en-US" altLang="ko-KR" dirty="0"/>
              <a:t>Workers enqueue a request and wait for completion</a:t>
            </a:r>
          </a:p>
          <a:p>
            <a:pPr lvl="1"/>
            <a:r>
              <a:rPr lang="en-US" altLang="ko-KR" dirty="0"/>
              <a:t>Writer fetches batches from the queue, applies them to the tree, and wakes the requests</a:t>
            </a:r>
          </a:p>
          <a:p>
            <a:pPr lvl="1"/>
            <a:r>
              <a:rPr lang="en-US" altLang="ko-KR" dirty="0"/>
              <a:t>Overlay: Updates are merged in memory during batching; only the final root is published and written to disk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08017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86258-D88F-8D5A-B709-F0BEA82A5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B9823D-A24B-17B2-BC49-FF4676998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Current Approach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9A58F8B9-00B0-CA7A-1B75-F6E69368EF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7711" y="942110"/>
            <a:ext cx="4549274" cy="3482108"/>
          </a:xfrm>
          <a:prstGeom prst="rect">
            <a:avLst/>
          </a:prstGeom>
        </p:spPr>
      </p:pic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A7934D-F853-7C36-29C4-DA6235029E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85E0D11-ADA5-CC80-0B7C-F27D36ED92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3621518"/>
              </p:ext>
            </p:extLst>
          </p:nvPr>
        </p:nvGraphicFramePr>
        <p:xfrm>
          <a:off x="6096000" y="2209801"/>
          <a:ext cx="535708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636">
                  <a:extLst>
                    <a:ext uri="{9D8B030D-6E8A-4147-A177-3AD203B41FA5}">
                      <a16:colId xmlns:a16="http://schemas.microsoft.com/office/drawing/2014/main" val="2394510380"/>
                    </a:ext>
                  </a:extLst>
                </a:gridCol>
                <a:gridCol w="669636">
                  <a:extLst>
                    <a:ext uri="{9D8B030D-6E8A-4147-A177-3AD203B41FA5}">
                      <a16:colId xmlns:a16="http://schemas.microsoft.com/office/drawing/2014/main" val="1360600755"/>
                    </a:ext>
                  </a:extLst>
                </a:gridCol>
                <a:gridCol w="669636">
                  <a:extLst>
                    <a:ext uri="{9D8B030D-6E8A-4147-A177-3AD203B41FA5}">
                      <a16:colId xmlns:a16="http://schemas.microsoft.com/office/drawing/2014/main" val="3582915960"/>
                    </a:ext>
                  </a:extLst>
                </a:gridCol>
                <a:gridCol w="669636">
                  <a:extLst>
                    <a:ext uri="{9D8B030D-6E8A-4147-A177-3AD203B41FA5}">
                      <a16:colId xmlns:a16="http://schemas.microsoft.com/office/drawing/2014/main" val="957611377"/>
                    </a:ext>
                  </a:extLst>
                </a:gridCol>
                <a:gridCol w="669636">
                  <a:extLst>
                    <a:ext uri="{9D8B030D-6E8A-4147-A177-3AD203B41FA5}">
                      <a16:colId xmlns:a16="http://schemas.microsoft.com/office/drawing/2014/main" val="3845011829"/>
                    </a:ext>
                  </a:extLst>
                </a:gridCol>
                <a:gridCol w="669636">
                  <a:extLst>
                    <a:ext uri="{9D8B030D-6E8A-4147-A177-3AD203B41FA5}">
                      <a16:colId xmlns:a16="http://schemas.microsoft.com/office/drawing/2014/main" val="1650193966"/>
                    </a:ext>
                  </a:extLst>
                </a:gridCol>
                <a:gridCol w="669636">
                  <a:extLst>
                    <a:ext uri="{9D8B030D-6E8A-4147-A177-3AD203B41FA5}">
                      <a16:colId xmlns:a16="http://schemas.microsoft.com/office/drawing/2014/main" val="692872985"/>
                    </a:ext>
                  </a:extLst>
                </a:gridCol>
                <a:gridCol w="669636">
                  <a:extLst>
                    <a:ext uri="{9D8B030D-6E8A-4147-A177-3AD203B41FA5}">
                      <a16:colId xmlns:a16="http://schemas.microsoft.com/office/drawing/2014/main" val="33712740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8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16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32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64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070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100K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98.20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98.22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98.46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98.68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98.76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99.04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99.23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822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1M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81.82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81.71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79.36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77.16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75.70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74.43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73.07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3185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10M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75.09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75.10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71.41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67.64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63.89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60.33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57.12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92281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BB649AF-7B11-35C6-2CC6-15A3F47B8BED}"/>
              </a:ext>
            </a:extLst>
          </p:cNvPr>
          <p:cNvSpPr txBox="1"/>
          <p:nvPr/>
        </p:nvSpPr>
        <p:spPr>
          <a:xfrm>
            <a:off x="7347522" y="1840469"/>
            <a:ext cx="2893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cache hit ratio per threads</a:t>
            </a:r>
            <a:endParaRPr kumimoji="1"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9D2E52-4AB0-6811-1E8C-D0464AB11C12}"/>
              </a:ext>
            </a:extLst>
          </p:cNvPr>
          <p:cNvSpPr txBox="1"/>
          <p:nvPr/>
        </p:nvSpPr>
        <p:spPr>
          <a:xfrm>
            <a:off x="6096000" y="3754716"/>
            <a:ext cx="29530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Cache: 8K sets, 4-way associative</a:t>
            </a:r>
            <a:endParaRPr kumimoji="1" lang="ko-KR" alt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D08E59-3949-FE69-FD30-40789B3AA549}"/>
              </a:ext>
            </a:extLst>
          </p:cNvPr>
          <p:cNvSpPr txBox="1"/>
          <p:nvPr/>
        </p:nvSpPr>
        <p:spPr>
          <a:xfrm>
            <a:off x="6096000" y="4211916"/>
            <a:ext cx="56730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But, </a:t>
            </a:r>
            <a:r>
              <a:rPr lang="en-US" altLang="ko-KR" sz="1600" dirty="0"/>
              <a:t>not simply more misses; reuse previously captured as </a:t>
            </a:r>
          </a:p>
          <a:p>
            <a:r>
              <a:rPr lang="en-US" altLang="ko-KR" sz="1600" dirty="0"/>
              <a:t>global cache hits shifts to another layer</a:t>
            </a:r>
            <a:endParaRPr kumimoji="1"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7BA2E49-2F95-619E-768C-2C7668EDE5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221" b="53892"/>
          <a:stretch>
            <a:fillRect/>
          </a:stretch>
        </p:blipFill>
        <p:spPr>
          <a:xfrm>
            <a:off x="1822147" y="4578195"/>
            <a:ext cx="2654603" cy="196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25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5397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1242</TotalTime>
  <Words>166</Words>
  <Application>Microsoft Office PowerPoint</Application>
  <PresentationFormat>와이드스크린</PresentationFormat>
  <Paragraphs>55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Pretendard</vt:lpstr>
      <vt:lpstr>맑은 고딕</vt:lpstr>
      <vt:lpstr>Arial</vt:lpstr>
      <vt:lpstr>Office 테마</vt:lpstr>
      <vt:lpstr>CoW-Tree Progress</vt:lpstr>
      <vt:lpstr>Purpose</vt:lpstr>
      <vt:lpstr>Attempts</vt:lpstr>
      <vt:lpstr>Attempts</vt:lpstr>
      <vt:lpstr>Current Approach</vt:lpstr>
      <vt:lpstr>Current Approach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장준일</dc:creator>
  <cp:lastModifiedBy>장준일</cp:lastModifiedBy>
  <cp:revision>19</cp:revision>
  <dcterms:created xsi:type="dcterms:W3CDTF">2025-10-16T02:21:25Z</dcterms:created>
  <dcterms:modified xsi:type="dcterms:W3CDTF">2026-03-17T06:09:17Z</dcterms:modified>
</cp:coreProperties>
</file>